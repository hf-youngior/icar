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wide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2860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600" b="1">
                <a:solidFill>
                  <a:srgbClr val="F8FFFF"/>
                </a:solidFill>
                <a:latin typeface="Microsoft YaHei"/>
                <a:ea typeface="Microsoft YaHei"/>
              </a:rPr>
              <a:t>Web 遥控设计：把页面按钮变成真车控制指令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7315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>
                <a:solidFill>
                  <a:srgbClr val="9FC5D8"/>
                </a:solidFill>
                <a:latin typeface="Microsoft YaHei"/>
                <a:ea typeface="Microsoft YaHei"/>
              </a:rPr>
              <a:t>浏览器只负责交互，FastAPI 后端负责协议转换、端口切换、超时降级和急停抢占</a:t>
            </a:r>
          </a:p>
        </p:txBody>
      </p:sp>
      <p:sp>
        <p:nvSpPr>
          <p:cNvPr id="4" name="design"/>
          <p:cNvSpPr/>
          <p:nvPr/>
        </p:nvSpPr>
        <p:spPr>
          <a:xfrm>
            <a:off x="502920" y="1234440"/>
            <a:ext cx="4846320" cy="3611880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2DE2E6"/>
            </a:solidFill>
          </a:ln>
        </p:spPr>
        <p:txBody>
          <a:bodyPr wrap="square" anchor="mid"/>
          <a:lstStyle/>
          <a:p>
            <a:r>
              <a:rPr lang="zh-CN" sz="1350">
                <a:solidFill>
                  <a:srgbClr val="F4FAFF"/>
                </a:solidFill>
                <a:latin typeface="Microsoft YaHei"/>
                <a:ea typeface="Microsoft YaHei"/>
              </a:rPr>
              <a:t>设计要点</a:t>
            </a:r>
          </a:p>
          <a:p>
            <a:r>
              <a:rPr lang="zh-CN" sz="135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  <a:p>
            <a:r>
              <a:rPr lang="zh-CN" sz="1350">
                <a:solidFill>
                  <a:srgbClr val="F4FAFF"/>
                </a:solidFill>
                <a:latin typeface="Microsoft YaHei"/>
                <a:ea typeface="Microsoft YaHei"/>
              </a:rPr>
              <a:t>• 页面按钮调用 /api/control/manual</a:t>
            </a:r>
          </a:p>
          <a:p>
            <a:r>
              <a:rPr lang="zh-CN" sz="1350">
                <a:solidFill>
                  <a:srgbClr val="F4FAFF"/>
                </a:solidFill>
                <a:latin typeface="Microsoft YaHei"/>
                <a:ea typeface="Microsoft YaHei"/>
              </a:rPr>
              <a:t>• 后端 TcpCarAdapter 编码 Rosmaster TCP 帧</a:t>
            </a:r>
          </a:p>
          <a:p>
            <a:r>
              <a:rPr lang="zh-CN" sz="1350">
                <a:solidFill>
                  <a:srgbClr val="F4FAFF"/>
                </a:solidFill>
                <a:latin typeface="Microsoft YaHei"/>
                <a:ea typeface="Microsoft YaHei"/>
              </a:rPr>
              <a:t>• 6000：原生 App 控制端口</a:t>
            </a:r>
          </a:p>
          <a:p>
            <a:r>
              <a:rPr lang="zh-CN" sz="1350">
                <a:solidFill>
                  <a:srgbClr val="F4FAFF"/>
                </a:solidFill>
                <a:latin typeface="Microsoft YaHei"/>
                <a:ea typeface="Microsoft YaHei"/>
              </a:rPr>
              <a:t>• 6001：自建 Rosmaster 桥接备选</a:t>
            </a:r>
          </a:p>
          <a:p>
            <a:r>
              <a:rPr lang="zh-CN" sz="1350">
                <a:solidFill>
                  <a:srgbClr val="F4FAFF"/>
                </a:solidFill>
                <a:latin typeface="Microsoft YaHei"/>
                <a:ea typeface="Microsoft YaHei"/>
              </a:rPr>
              <a:t>• 前/后长按连续运动，普通左右短脉冲</a:t>
            </a:r>
          </a:p>
          <a:p>
            <a:r>
              <a:rPr lang="zh-CN" sz="1350">
                <a:solidFill>
                  <a:srgbClr val="F4FAFF"/>
                </a:solidFill>
                <a:latin typeface="Microsoft YaHei"/>
                <a:ea typeface="Microsoft YaHei"/>
              </a:rPr>
              <a:t>• 急停最高优先级，连续发送 stop</a:t>
            </a:r>
          </a:p>
        </p:txBody>
      </p:sp>
      <p:sp>
        <p:nvSpPr>
          <p:cNvPr id="5" name="screenshot"/>
          <p:cNvSpPr/>
          <p:nvPr/>
        </p:nvSpPr>
        <p:spPr>
          <a:xfrm>
            <a:off x="5623560" y="1234440"/>
            <a:ext cx="6080760" cy="3611880"/>
          </a:xfrm>
          <a:prstGeom prst="roundRect">
            <a:avLst/>
          </a:prstGeom>
          <a:solidFill>
            <a:srgbClr val="0A1726"/>
          </a:solidFill>
          <a:ln w="12700">
            <a:solidFill>
              <a:srgbClr val="5CE7F1"/>
            </a:solidFill>
          </a:ln>
        </p:spPr>
        <p:txBody>
          <a:bodyPr wrap="square" anchor="mid"/>
          <a:lstStyle/>
          <a:p>
            <a:r>
              <a:rPr lang="zh-CN" sz="1800" b="1">
                <a:solidFill>
                  <a:srgbClr val="B9F8FF"/>
                </a:solidFill>
                <a:latin typeface="Microsoft YaHei"/>
                <a:ea typeface="Microsoft YaHei"/>
              </a:rPr>
              <a:t>遥控页面截图占位</a:t>
            </a:r>
          </a:p>
          <a:p>
            <a:r>
              <a:rPr lang="zh-CN" sz="1800" b="1">
                <a:solidFill>
                  <a:srgbClr val="B9F8FF"/>
                </a:solidFill>
                <a:latin typeface="Microsoft YaHei"/>
                <a:ea typeface="Microsoft YaHei"/>
              </a:rPr>
              <a:t/>
            </a:r>
          </a:p>
          <a:p>
            <a:r>
              <a:rPr lang="zh-CN" sz="1800" b="1">
                <a:solidFill>
                  <a:srgbClr val="B9F8FF"/>
                </a:solidFill>
                <a:latin typeface="Microsoft YaHei"/>
                <a:ea typeface="Microsoft YaHei"/>
              </a:rPr>
              <a:t>后续把当前 /control 页面截图放在这里</a:t>
            </a:r>
          </a:p>
        </p:txBody>
      </p:sp>
      <p:sp>
        <p:nvSpPr>
          <p:cNvPr id="6" name="box6"/>
          <p:cNvSpPr/>
          <p:nvPr/>
        </p:nvSpPr>
        <p:spPr>
          <a:xfrm>
            <a:off x="640080" y="5166360"/>
            <a:ext cx="1600200" cy="685800"/>
          </a:xfrm>
          <a:prstGeom prst="roundRect">
            <a:avLst/>
          </a:prstGeom>
          <a:solidFill>
            <a:srgbClr val="142B42"/>
          </a:solidFill>
          <a:ln w="12700">
            <a:solidFill>
              <a:srgbClr val="2DE2E6"/>
            </a:solidFill>
          </a:ln>
        </p:spPr>
        <p:txBody>
          <a:bodyPr wrap="square" anchor="mid"/>
          <a:lstStyle/>
          <a:p>
            <a:r>
              <a:rPr lang="zh-CN" sz="1050" b="1">
                <a:solidFill>
                  <a:srgbClr val="F3FEFF"/>
                </a:solidFill>
                <a:latin typeface="Microsoft YaHei"/>
                <a:ea typeface="Microsoft YaHei"/>
              </a:rPr>
              <a:t>Web 按钮</a:t>
            </a:r>
          </a:p>
          <a:p>
            <a:r>
              <a:rPr lang="zh-CN" sz="1050" b="1">
                <a:solidFill>
                  <a:srgbClr val="F3FEFF"/>
                </a:solidFill>
                <a:latin typeface="Microsoft YaHei"/>
                <a:ea typeface="Microsoft YaHei"/>
              </a:rPr>
              <a:t>前/后/左/右/停</a:t>
            </a:r>
          </a:p>
        </p:txBody>
      </p:sp>
      <p:sp>
        <p:nvSpPr>
          <p:cNvPr id="7" name="box7"/>
          <p:cNvSpPr/>
          <p:nvPr/>
        </p:nvSpPr>
        <p:spPr>
          <a:xfrm>
            <a:off x="2743200" y="5166360"/>
            <a:ext cx="1600200" cy="685800"/>
          </a:xfrm>
          <a:prstGeom prst="roundRect">
            <a:avLst/>
          </a:prstGeom>
          <a:solidFill>
            <a:srgbClr val="142B42"/>
          </a:solidFill>
          <a:ln w="12700">
            <a:solidFill>
              <a:srgbClr val="2DE2E6"/>
            </a:solidFill>
          </a:ln>
        </p:spPr>
        <p:txBody>
          <a:bodyPr wrap="square" anchor="mid"/>
          <a:lstStyle/>
          <a:p>
            <a:r>
              <a:rPr lang="zh-CN" sz="1050" b="1">
                <a:solidFill>
                  <a:srgbClr val="F3FEFF"/>
                </a:solidFill>
                <a:latin typeface="Microsoft YaHei"/>
                <a:ea typeface="Microsoft YaHei"/>
              </a:rPr>
              <a:t>FastAPI</a:t>
            </a:r>
          </a:p>
          <a:p>
            <a:r>
              <a:rPr lang="zh-CN" sz="1050" b="1">
                <a:solidFill>
                  <a:srgbClr val="F3FEFF"/>
                </a:solidFill>
                <a:latin typeface="Microsoft YaHei"/>
                <a:ea typeface="Microsoft YaHei"/>
              </a:rPr>
              <a:t>/manual</a:t>
            </a:r>
          </a:p>
        </p:txBody>
      </p:sp>
      <p:sp>
        <p:nvSpPr>
          <p:cNvPr id="8" name="box8"/>
          <p:cNvSpPr/>
          <p:nvPr/>
        </p:nvSpPr>
        <p:spPr>
          <a:xfrm>
            <a:off x="4800600" y="5166360"/>
            <a:ext cx="1600200" cy="685800"/>
          </a:xfrm>
          <a:prstGeom prst="roundRect">
            <a:avLst/>
          </a:prstGeom>
          <a:solidFill>
            <a:srgbClr val="142B42"/>
          </a:solidFill>
          <a:ln w="12700">
            <a:solidFill>
              <a:srgbClr val="2DE2E6"/>
            </a:solidFill>
          </a:ln>
        </p:spPr>
        <p:txBody>
          <a:bodyPr wrap="square" anchor="mid"/>
          <a:lstStyle/>
          <a:p>
            <a:r>
              <a:rPr lang="zh-CN" sz="1050" b="1">
                <a:solidFill>
                  <a:srgbClr val="F3FEFF"/>
                </a:solidFill>
                <a:latin typeface="Microsoft YaHei"/>
                <a:ea typeface="Microsoft YaHei"/>
              </a:rPr>
              <a:t>TCP 适配器</a:t>
            </a:r>
          </a:p>
          <a:p>
            <a:r>
              <a:rPr lang="zh-CN" sz="1050" b="1">
                <a:solidFill>
                  <a:srgbClr val="F3FEFF"/>
                </a:solidFill>
                <a:latin typeface="Microsoft YaHei"/>
                <a:ea typeface="Microsoft YaHei"/>
              </a:rPr>
              <a:t>协议帧编码</a:t>
            </a:r>
          </a:p>
        </p:txBody>
      </p:sp>
      <p:sp>
        <p:nvSpPr>
          <p:cNvPr id="9" name="box9"/>
          <p:cNvSpPr/>
          <p:nvPr/>
        </p:nvSpPr>
        <p:spPr>
          <a:xfrm>
            <a:off x="6995160" y="5166360"/>
            <a:ext cx="1600200" cy="685800"/>
          </a:xfrm>
          <a:prstGeom prst="roundRect">
            <a:avLst/>
          </a:prstGeom>
          <a:solidFill>
            <a:srgbClr val="142B42"/>
          </a:solidFill>
          <a:ln w="12700">
            <a:solidFill>
              <a:srgbClr val="2DE2E6"/>
            </a:solidFill>
          </a:ln>
        </p:spPr>
        <p:txBody>
          <a:bodyPr wrap="square" anchor="mid"/>
          <a:lstStyle/>
          <a:p>
            <a:r>
              <a:rPr lang="zh-CN" sz="1050" b="1">
                <a:solidFill>
                  <a:srgbClr val="F3FEFF"/>
                </a:solidFill>
                <a:latin typeface="Microsoft YaHei"/>
                <a:ea typeface="Microsoft YaHei"/>
              </a:rPr>
              <a:t>6000/6001</a:t>
            </a:r>
          </a:p>
          <a:p>
            <a:r>
              <a:rPr lang="zh-CN" sz="1050" b="1">
                <a:solidFill>
                  <a:srgbClr val="F3FEFF"/>
                </a:solidFill>
                <a:latin typeface="Microsoft YaHei"/>
                <a:ea typeface="Microsoft YaHei"/>
              </a:rPr>
              <a:t>控制链路</a:t>
            </a:r>
          </a:p>
        </p:txBody>
      </p:sp>
      <p:sp>
        <p:nvSpPr>
          <p:cNvPr id="10" name="box10"/>
          <p:cNvSpPr/>
          <p:nvPr/>
        </p:nvSpPr>
        <p:spPr>
          <a:xfrm>
            <a:off x="9189720" y="5166360"/>
            <a:ext cx="1600200" cy="685800"/>
          </a:xfrm>
          <a:prstGeom prst="roundRect">
            <a:avLst/>
          </a:prstGeom>
          <a:solidFill>
            <a:srgbClr val="142B42"/>
          </a:solidFill>
          <a:ln w="12700">
            <a:solidFill>
              <a:srgbClr val="2DE2E6"/>
            </a:solidFill>
          </a:ln>
        </p:spPr>
        <p:txBody>
          <a:bodyPr wrap="square" anchor="mid"/>
          <a:lstStyle/>
          <a:p>
            <a:r>
              <a:rPr lang="zh-CN" sz="1050" b="1">
                <a:solidFill>
                  <a:srgbClr val="F3FEFF"/>
                </a:solidFill>
                <a:latin typeface="Microsoft YaHei"/>
                <a:ea typeface="Microsoft YaHei"/>
              </a:rPr>
              <a:t>Rosmaster</a:t>
            </a:r>
          </a:p>
          <a:p>
            <a:r>
              <a:rPr lang="zh-CN" sz="1050" b="1">
                <a:solidFill>
                  <a:srgbClr val="F3FEFF"/>
                </a:solidFill>
                <a:latin typeface="Microsoft YaHei"/>
                <a:ea typeface="Microsoft YaHei"/>
              </a:rPr>
              <a:t>底盘执行</a:t>
            </a:r>
          </a:p>
        </p:txBody>
      </p:sp>
      <p:cxnSp>
        <p:nvCxnSpPr>
          <p:cNvPr id="20" name="arrow20"/>
          <p:cNvCxnSpPr/>
          <p:nvPr/>
        </p:nvCxnSpPr>
        <p:spPr>
          <a:xfrm>
            <a:off x="2240280" y="5504688"/>
            <a:ext cx="411480" cy="0"/>
          </a:xfrm>
          <a:prstGeom prst="line">
            <a:avLst/>
          </a:prstGeom>
          <a:ln w="22225">
            <a:solidFill>
              <a:srgbClr val="37F6F6"/>
            </a:solidFill>
            <a:tailEnd type="triangle"/>
          </a:ln>
        </p:spPr>
      </p:cxnSp>
      <p:cxnSp>
        <p:nvCxnSpPr>
          <p:cNvPr id="21" name="arrow21"/>
          <p:cNvCxnSpPr/>
          <p:nvPr/>
        </p:nvCxnSpPr>
        <p:spPr>
          <a:xfrm>
            <a:off x="4315968" y="5504688"/>
            <a:ext cx="411480" cy="0"/>
          </a:xfrm>
          <a:prstGeom prst="line">
            <a:avLst/>
          </a:prstGeom>
          <a:ln w="22225">
            <a:solidFill>
              <a:srgbClr val="37F6F6"/>
            </a:solidFill>
            <a:tailEnd type="triangle"/>
          </a:ln>
        </p:spPr>
      </p:cxnSp>
      <p:cxnSp>
        <p:nvCxnSpPr>
          <p:cNvPr id="22" name="arrow22"/>
          <p:cNvCxnSpPr/>
          <p:nvPr/>
        </p:nvCxnSpPr>
        <p:spPr>
          <a:xfrm>
            <a:off x="6400800" y="5504688"/>
            <a:ext cx="411480" cy="0"/>
          </a:xfrm>
          <a:prstGeom prst="line">
            <a:avLst/>
          </a:prstGeom>
          <a:ln w="22225">
            <a:solidFill>
              <a:srgbClr val="37F6F6"/>
            </a:solidFill>
            <a:tailEnd type="triangle"/>
          </a:ln>
        </p:spPr>
      </p:cxnSp>
      <p:cxnSp>
        <p:nvCxnSpPr>
          <p:cNvPr id="23" name="arrow23"/>
          <p:cNvCxnSpPr/>
          <p:nvPr/>
        </p:nvCxnSpPr>
        <p:spPr>
          <a:xfrm>
            <a:off x="8577072" y="5504688"/>
            <a:ext cx="411480" cy="0"/>
          </a:xfrm>
          <a:prstGeom prst="line">
            <a:avLst/>
          </a:prstGeom>
          <a:ln w="22225">
            <a:solidFill>
              <a:srgbClr val="37F6F6"/>
            </a:solidFill>
            <a:tailEnd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400" b="1">
                <a:solidFill>
                  <a:srgbClr val="F8FFFF"/>
                </a:solidFill>
                <a:latin typeface="Microsoft YaHei"/>
                <a:ea typeface="Microsoft YaHei"/>
              </a:rPr>
              <a:t>SLAM 建图与自动导航：从复杂 ROS2 操作到 Web 流程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solidFill>
                  <a:srgbClr val="9FC5D8"/>
                </a:solidFill>
                <a:latin typeface="Microsoft YaHei"/>
                <a:ea typeface="Microsoft YaHei"/>
              </a:rPr>
              <a:t>建图解决“环境是什么样”，导航解决“小车在哪里、怎么去目标点”</a:t>
            </a:r>
          </a:p>
        </p:txBody>
      </p:sp>
      <p:sp>
        <p:nvSpPr>
          <p:cNvPr id="4" name="principle"/>
          <p:cNvSpPr/>
          <p:nvPr/>
        </p:nvSpPr>
        <p:spPr>
          <a:xfrm>
            <a:off x="502920" y="987552"/>
            <a:ext cx="3108960" cy="1143000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2DE2E6"/>
            </a:solidFill>
          </a:ln>
        </p:spPr>
        <p:txBody>
          <a:bodyPr wrap="square" anchor="mid"/>
          <a:lstStyle/>
          <a:p>
            <a:r>
              <a:rPr lang="zh-CN" sz="1050">
                <a:solidFill>
                  <a:srgbClr val="F4FAFF"/>
                </a:solidFill>
                <a:latin typeface="Microsoft YaHei"/>
                <a:ea typeface="Microsoft YaHei"/>
              </a:rPr>
              <a:t>核心原理</a:t>
            </a:r>
          </a:p>
          <a:p>
            <a:r>
              <a:rPr lang="zh-CN" sz="1050">
                <a:solidFill>
                  <a:srgbClr val="F4FAFF"/>
                </a:solidFill>
                <a:latin typeface="Microsoft YaHei"/>
                <a:ea typeface="Microsoft YaHei"/>
              </a:rPr>
              <a:t>• 激光雷达 + 里程计生成 2D 栅格地图</a:t>
            </a:r>
          </a:p>
          <a:p>
            <a:r>
              <a:rPr lang="zh-CN" sz="1050">
                <a:solidFill>
                  <a:srgbClr val="F4FAFF"/>
                </a:solidFill>
                <a:latin typeface="Microsoft YaHei"/>
                <a:ea typeface="Microsoft YaHei"/>
              </a:rPr>
              <a:t>• 保存 .yaml/.pgm 地图文件</a:t>
            </a:r>
          </a:p>
          <a:p>
            <a:r>
              <a:rPr lang="zh-CN" sz="1050">
                <a:solidFill>
                  <a:srgbClr val="F4FAFF"/>
                </a:solidFill>
                <a:latin typeface="Microsoft YaHei"/>
                <a:ea typeface="Microsoft YaHei"/>
              </a:rPr>
              <a:t>• 导航时 map_server 加载地图</a:t>
            </a:r>
          </a:p>
          <a:p>
            <a:r>
              <a:rPr lang="zh-CN" sz="1050">
                <a:solidFill>
                  <a:srgbClr val="F4FAFF"/>
                </a:solidFill>
                <a:latin typeface="Microsoft YaHei"/>
                <a:ea typeface="Microsoft YaHei"/>
              </a:rPr>
              <a:t>• AMCL 根据雷达和地图估计当前位置</a:t>
            </a:r>
          </a:p>
        </p:txBody>
      </p:sp>
      <p:sp>
        <p:nvSpPr>
          <p:cNvPr id="5" name="algorithms"/>
          <p:cNvSpPr/>
          <p:nvPr/>
        </p:nvSpPr>
        <p:spPr>
          <a:xfrm>
            <a:off x="3794760" y="987552"/>
            <a:ext cx="2743200" cy="1143000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2DE2E6"/>
            </a:solidFill>
          </a:ln>
        </p:spPr>
        <p:txBody>
          <a:bodyPr wrap="square" anchor="mid"/>
          <a:lstStyle/>
          <a:p>
            <a:r>
              <a:rPr lang="zh-CN" sz="1050">
                <a:solidFill>
                  <a:srgbClr val="F4FAFF"/>
                </a:solidFill>
                <a:latin typeface="Microsoft YaHei"/>
                <a:ea typeface="Microsoft YaHei"/>
              </a:rPr>
              <a:t>算法选择</a:t>
            </a:r>
          </a:p>
          <a:p>
            <a:r>
              <a:rPr lang="zh-CN" sz="1050">
                <a:solidFill>
                  <a:srgbClr val="F4FAFF"/>
                </a:solidFill>
                <a:latin typeface="Microsoft YaHei"/>
                <a:ea typeface="Microsoft YaHei"/>
              </a:rPr>
              <a:t>建图：默认 gmapping</a:t>
            </a:r>
          </a:p>
          <a:p>
            <a:r>
              <a:rPr lang="zh-CN" sz="1050">
                <a:solidFill>
                  <a:srgbClr val="F4FAFF"/>
                </a:solidFill>
                <a:latin typeface="Microsoft YaHei"/>
                <a:ea typeface="Microsoft YaHei"/>
              </a:rPr>
              <a:t>预留：cartographer / rtabmap</a:t>
            </a:r>
          </a:p>
          <a:p>
            <a:r>
              <a:rPr lang="zh-CN" sz="1050">
                <a:solidFill>
                  <a:srgbClr val="F4FAFF"/>
                </a:solidFill>
                <a:latin typeface="Microsoft YaHei"/>
                <a:ea typeface="Microsoft YaHei"/>
              </a:rPr>
              <a:t>导航：DWA / TEB / RTABMap</a:t>
            </a:r>
          </a:p>
          <a:p>
            <a:r>
              <a:rPr lang="zh-CN" sz="1050">
                <a:solidFill>
                  <a:srgbClr val="F4FAFF"/>
                </a:solidFill>
                <a:latin typeface="Microsoft YaHei"/>
                <a:ea typeface="Microsoft YaHei"/>
              </a:rPr>
              <a:t>演示推荐：DWA</a:t>
            </a:r>
          </a:p>
        </p:txBody>
      </p:sp>
      <p:sp>
        <p:nvSpPr>
          <p:cNvPr id="6" name="guard"/>
          <p:cNvSpPr/>
          <p:nvPr/>
        </p:nvSpPr>
        <p:spPr>
          <a:xfrm>
            <a:off x="6720840" y="987552"/>
            <a:ext cx="4572000" cy="1143000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2DE2E6"/>
            </a:solidFill>
          </a:ln>
        </p:spPr>
        <p:txBody>
          <a:bodyPr wrap="square" anchor="mid"/>
          <a:lstStyle/>
          <a:p>
            <a:r>
              <a:rPr lang="zh-CN" sz="1050">
                <a:solidFill>
                  <a:srgbClr val="F4FAFF"/>
                </a:solidFill>
                <a:latin typeface="Microsoft YaHei"/>
                <a:ea typeface="Microsoft YaHei"/>
              </a:rPr>
              <a:t>关键保护</a:t>
            </a:r>
          </a:p>
          <a:p>
            <a:r>
              <a:rPr lang="zh-CN" sz="1050">
                <a:solidFill>
                  <a:srgbClr val="F4FAFF"/>
                </a:solidFill>
                <a:latin typeface="Microsoft YaHei"/>
                <a:ea typeface="Microsoft YaHei"/>
              </a:rPr>
              <a:t>• save_map 后同步容器与宿主机 maps 目录</a:t>
            </a:r>
          </a:p>
          <a:p>
            <a:r>
              <a:rPr lang="zh-CN" sz="1050">
                <a:solidFill>
                  <a:srgbClr val="F4FAFF"/>
                </a:solidFill>
                <a:latin typeface="Microsoft YaHei"/>
                <a:ea typeface="Microsoft YaHei"/>
              </a:rPr>
              <a:t>• Nav2 action server 就绪后才允许发目标</a:t>
            </a:r>
          </a:p>
          <a:p>
            <a:r>
              <a:rPr lang="zh-CN" sz="1050">
                <a:solidFill>
                  <a:srgbClr val="F4FAFF"/>
                </a:solidFill>
                <a:latin typeface="Microsoft YaHei"/>
                <a:ea typeface="Microsoft YaHei"/>
              </a:rPr>
              <a:t>• 首次导航必须发布 /initialpose</a:t>
            </a:r>
          </a:p>
          <a:p>
            <a:r>
              <a:rPr lang="zh-CN" sz="1050">
                <a:solidFill>
                  <a:srgbClr val="F4FAFF"/>
                </a:solidFill>
                <a:latin typeface="Microsoft YaHei"/>
                <a:ea typeface="Microsoft YaHei"/>
              </a:rPr>
              <a:t>• AMCL 不回传时提示先确认当前位置</a:t>
            </a:r>
          </a:p>
        </p:txBody>
      </p:sp>
      <p:sp>
        <p:nvSpPr>
          <p:cNvPr id="30" name="lane用户"/>
          <p:cNvSpPr/>
          <p:nvPr/>
        </p:nvSpPr>
        <p:spPr>
          <a:xfrm>
            <a:off x="411480" y="2423160"/>
            <a:ext cx="1143000" cy="502920"/>
          </a:xfrm>
          <a:prstGeom prst="rect">
            <a:avLst/>
          </a:prstGeom>
          <a:solidFill>
            <a:srgbClr val="1A3650"/>
          </a:solidFill>
          <a:ln w="12700">
            <a:solidFill>
              <a:srgbClr val="2DE2E6"/>
            </a:solidFill>
          </a:ln>
        </p:spPr>
        <p:txBody>
          <a:bodyPr wrap="square" anchor="mid"/>
          <a:lstStyle/>
          <a:p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用户</a:t>
            </a:r>
          </a:p>
        </p:txBody>
      </p:sp>
      <p:sp>
        <p:nvSpPr>
          <p:cNvPr id="40" name="laneLine用户"/>
          <p:cNvSpPr/>
          <p:nvPr/>
        </p:nvSpPr>
        <p:spPr>
          <a:xfrm>
            <a:off x="1600200" y="2423160"/>
            <a:ext cx="9966960" cy="502920"/>
          </a:xfrm>
          <a:prstGeom prst="rect">
            <a:avLst/>
          </a:prstGeom>
          <a:solidFill>
            <a:srgbClr val="07111E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9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1" name="laneWeb 前端"/>
          <p:cNvSpPr/>
          <p:nvPr/>
        </p:nvSpPr>
        <p:spPr>
          <a:xfrm>
            <a:off x="411480" y="3154680"/>
            <a:ext cx="1143000" cy="502920"/>
          </a:xfrm>
          <a:prstGeom prst="rect">
            <a:avLst/>
          </a:prstGeom>
          <a:solidFill>
            <a:srgbClr val="1A3650"/>
          </a:solidFill>
          <a:ln w="12700">
            <a:solidFill>
              <a:srgbClr val="2DE2E6"/>
            </a:solidFill>
          </a:ln>
        </p:spPr>
        <p:txBody>
          <a:bodyPr wrap="square" anchor="mid"/>
          <a:lstStyle/>
          <a:p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Web 前端</a:t>
            </a:r>
          </a:p>
        </p:txBody>
      </p:sp>
      <p:sp>
        <p:nvSpPr>
          <p:cNvPr id="41" name="laneLineWeb 前端"/>
          <p:cNvSpPr/>
          <p:nvPr/>
        </p:nvSpPr>
        <p:spPr>
          <a:xfrm>
            <a:off x="1600200" y="3154680"/>
            <a:ext cx="9966960" cy="502920"/>
          </a:xfrm>
          <a:prstGeom prst="rect">
            <a:avLst/>
          </a:prstGeom>
          <a:solidFill>
            <a:srgbClr val="07111E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9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2" name="laneFastAPI 后端"/>
          <p:cNvSpPr/>
          <p:nvPr/>
        </p:nvSpPr>
        <p:spPr>
          <a:xfrm>
            <a:off x="411480" y="3886200"/>
            <a:ext cx="1143000" cy="502920"/>
          </a:xfrm>
          <a:prstGeom prst="rect">
            <a:avLst/>
          </a:prstGeom>
          <a:solidFill>
            <a:srgbClr val="1A3650"/>
          </a:solidFill>
          <a:ln w="12700">
            <a:solidFill>
              <a:srgbClr val="2DE2E6"/>
            </a:solidFill>
          </a:ln>
        </p:spPr>
        <p:txBody>
          <a:bodyPr wrap="square" anchor="mid"/>
          <a:lstStyle/>
          <a:p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FastAPI 后端</a:t>
            </a:r>
          </a:p>
        </p:txBody>
      </p:sp>
      <p:sp>
        <p:nvSpPr>
          <p:cNvPr id="42" name="laneLineFastAPI 后端"/>
          <p:cNvSpPr/>
          <p:nvPr/>
        </p:nvSpPr>
        <p:spPr>
          <a:xfrm>
            <a:off x="1600200" y="3886200"/>
            <a:ext cx="9966960" cy="502920"/>
          </a:xfrm>
          <a:prstGeom prst="rect">
            <a:avLst/>
          </a:prstGeom>
          <a:solidFill>
            <a:srgbClr val="07111E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9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3" name="lane小车 ROS2 / Docker"/>
          <p:cNvSpPr/>
          <p:nvPr/>
        </p:nvSpPr>
        <p:spPr>
          <a:xfrm>
            <a:off x="411480" y="4617720"/>
            <a:ext cx="1143000" cy="502920"/>
          </a:xfrm>
          <a:prstGeom prst="rect">
            <a:avLst/>
          </a:prstGeom>
          <a:solidFill>
            <a:srgbClr val="1A3650"/>
          </a:solidFill>
          <a:ln w="12700">
            <a:solidFill>
              <a:srgbClr val="2DE2E6"/>
            </a:solidFill>
          </a:ln>
        </p:spPr>
        <p:txBody>
          <a:bodyPr wrap="square" anchor="mid"/>
          <a:lstStyle/>
          <a:p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小车 ROS2 / Docker</a:t>
            </a:r>
          </a:p>
        </p:txBody>
      </p:sp>
      <p:sp>
        <p:nvSpPr>
          <p:cNvPr id="43" name="laneLine小车 ROS2 / Docker"/>
          <p:cNvSpPr/>
          <p:nvPr/>
        </p:nvSpPr>
        <p:spPr>
          <a:xfrm>
            <a:off x="1600200" y="4617720"/>
            <a:ext cx="9966960" cy="502920"/>
          </a:xfrm>
          <a:prstGeom prst="rect">
            <a:avLst/>
          </a:prstGeom>
          <a:solidFill>
            <a:srgbClr val="07111E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9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0" name="step50"/>
          <p:cNvSpPr/>
          <p:nvPr/>
        </p:nvSpPr>
        <p:spPr>
          <a:xfrm>
            <a:off x="1783080" y="242316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检查连接</a:t>
            </a:r>
          </a:p>
        </p:txBody>
      </p:sp>
      <p:sp>
        <p:nvSpPr>
          <p:cNvPr id="51" name="step51"/>
          <p:cNvSpPr/>
          <p:nvPr/>
        </p:nvSpPr>
        <p:spPr>
          <a:xfrm>
            <a:off x="3154680" y="242316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开始建图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遥控扫图</a:t>
            </a:r>
          </a:p>
        </p:txBody>
      </p:sp>
      <p:sp>
        <p:nvSpPr>
          <p:cNvPr id="52" name="step52"/>
          <p:cNvSpPr/>
          <p:nvPr/>
        </p:nvSpPr>
        <p:spPr>
          <a:xfrm>
            <a:off x="4800600" y="242316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保存地图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命名 room2</a:t>
            </a:r>
          </a:p>
        </p:txBody>
      </p:sp>
      <p:sp>
        <p:nvSpPr>
          <p:cNvPr id="53" name="step53"/>
          <p:cNvSpPr/>
          <p:nvPr/>
        </p:nvSpPr>
        <p:spPr>
          <a:xfrm>
            <a:off x="6446520" y="242316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启动导航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选择 DWA/TEB</a:t>
            </a:r>
          </a:p>
        </p:txBody>
      </p:sp>
      <p:sp>
        <p:nvSpPr>
          <p:cNvPr id="54" name="step54"/>
          <p:cNvSpPr/>
          <p:nvPr/>
        </p:nvSpPr>
        <p:spPr>
          <a:xfrm>
            <a:off x="8229600" y="242316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确认当前位置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发布 initialpose</a:t>
            </a:r>
          </a:p>
        </p:txBody>
      </p:sp>
      <p:sp>
        <p:nvSpPr>
          <p:cNvPr id="55" name="step55"/>
          <p:cNvSpPr/>
          <p:nvPr/>
        </p:nvSpPr>
        <p:spPr>
          <a:xfrm>
            <a:off x="10012680" y="242316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点目标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开始导航</a:t>
            </a:r>
          </a:p>
        </p:txBody>
      </p:sp>
      <p:sp>
        <p:nvSpPr>
          <p:cNvPr id="60" name="step60"/>
          <p:cNvSpPr/>
          <p:nvPr/>
        </p:nvSpPr>
        <p:spPr>
          <a:xfrm>
            <a:off x="1783080" y="315468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状态面板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地图画布</a:t>
            </a:r>
          </a:p>
        </p:txBody>
      </p:sp>
      <p:sp>
        <p:nvSpPr>
          <p:cNvPr id="61" name="step61"/>
          <p:cNvSpPr/>
          <p:nvPr/>
        </p:nvSpPr>
        <p:spPr>
          <a:xfrm>
            <a:off x="3154680" y="315468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遥控按钮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低速移动</a:t>
            </a:r>
          </a:p>
        </p:txBody>
      </p:sp>
      <p:sp>
        <p:nvSpPr>
          <p:cNvPr id="62" name="step62"/>
          <p:cNvSpPr/>
          <p:nvPr/>
        </p:nvSpPr>
        <p:spPr>
          <a:xfrm>
            <a:off x="4800600" y="315468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刷新地图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加载 yaml</a:t>
            </a:r>
          </a:p>
        </p:txBody>
      </p:sp>
      <p:sp>
        <p:nvSpPr>
          <p:cNvPr id="63" name="step63"/>
          <p:cNvSpPr/>
          <p:nvPr/>
        </p:nvSpPr>
        <p:spPr>
          <a:xfrm>
            <a:off x="6446520" y="315468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显示 Nav2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运行状态</a:t>
            </a:r>
          </a:p>
        </p:txBody>
      </p:sp>
      <p:sp>
        <p:nvSpPr>
          <p:cNvPr id="64" name="step64"/>
          <p:cNvSpPr/>
          <p:nvPr/>
        </p:nvSpPr>
        <p:spPr>
          <a:xfrm>
            <a:off x="8229600" y="315468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采集绿色点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x/y/θ</a:t>
            </a:r>
          </a:p>
        </p:txBody>
      </p:sp>
      <p:sp>
        <p:nvSpPr>
          <p:cNvPr id="65" name="step65"/>
          <p:cNvSpPr/>
          <p:nvPr/>
        </p:nvSpPr>
        <p:spPr>
          <a:xfrm>
            <a:off x="10012680" y="315468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采集彩色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目标点</a:t>
            </a:r>
          </a:p>
        </p:txBody>
      </p:sp>
      <p:sp>
        <p:nvSpPr>
          <p:cNvPr id="70" name="step70"/>
          <p:cNvSpPr/>
          <p:nvPr/>
        </p:nvSpPr>
        <p:spPr>
          <a:xfrm>
            <a:off x="1783080" y="388620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/api/slam/status</a:t>
            </a:r>
          </a:p>
        </p:txBody>
      </p:sp>
      <p:sp>
        <p:nvSpPr>
          <p:cNvPr id="71" name="step71"/>
          <p:cNvSpPr/>
          <p:nvPr/>
        </p:nvSpPr>
        <p:spPr>
          <a:xfrm>
            <a:off x="3154680" y="388620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SSH 启动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gmapping</a:t>
            </a:r>
          </a:p>
        </p:txBody>
      </p:sp>
      <p:sp>
        <p:nvSpPr>
          <p:cNvPr id="72" name="step72"/>
          <p:cNvSpPr/>
          <p:nvPr/>
        </p:nvSpPr>
        <p:spPr>
          <a:xfrm>
            <a:off x="4800600" y="388620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save_map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map_saver_cli</a:t>
            </a:r>
          </a:p>
        </p:txBody>
      </p:sp>
      <p:sp>
        <p:nvSpPr>
          <p:cNvPr id="73" name="step73"/>
          <p:cNvSpPr/>
          <p:nvPr/>
        </p:nvSpPr>
        <p:spPr>
          <a:xfrm>
            <a:off x="6446520" y="388620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启动 laser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Navigation2</a:t>
            </a:r>
          </a:p>
        </p:txBody>
      </p:sp>
      <p:sp>
        <p:nvSpPr>
          <p:cNvPr id="74" name="step74"/>
          <p:cNvSpPr/>
          <p:nvPr/>
        </p:nvSpPr>
        <p:spPr>
          <a:xfrm>
            <a:off x="8229600" y="388620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发布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/initialpose</a:t>
            </a:r>
          </a:p>
        </p:txBody>
      </p:sp>
      <p:sp>
        <p:nvSpPr>
          <p:cNvPr id="75" name="step75"/>
          <p:cNvSpPr/>
          <p:nvPr/>
        </p:nvSpPr>
        <p:spPr>
          <a:xfrm>
            <a:off x="10012680" y="388620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发布目标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/goal_pose</a:t>
            </a:r>
          </a:p>
        </p:txBody>
      </p:sp>
      <p:sp>
        <p:nvSpPr>
          <p:cNvPr id="80" name="step80"/>
          <p:cNvSpPr/>
          <p:nvPr/>
        </p:nvSpPr>
        <p:spPr>
          <a:xfrm>
            <a:off x="1783080" y="461772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端口/容器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检查</a:t>
            </a:r>
          </a:p>
        </p:txBody>
      </p:sp>
      <p:sp>
        <p:nvSpPr>
          <p:cNvPr id="81" name="step81"/>
          <p:cNvSpPr/>
          <p:nvPr/>
        </p:nvSpPr>
        <p:spPr>
          <a:xfrm>
            <a:off x="3154680" y="461772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激光扫描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建图</a:t>
            </a:r>
          </a:p>
        </p:txBody>
      </p:sp>
      <p:sp>
        <p:nvSpPr>
          <p:cNvPr id="82" name="step82"/>
          <p:cNvSpPr/>
          <p:nvPr/>
        </p:nvSpPr>
        <p:spPr>
          <a:xfrm>
            <a:off x="4800600" y="461772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.yaml/.pgm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落盘</a:t>
            </a:r>
          </a:p>
        </p:txBody>
      </p:sp>
      <p:sp>
        <p:nvSpPr>
          <p:cNvPr id="83" name="step83"/>
          <p:cNvSpPr/>
          <p:nvPr/>
        </p:nvSpPr>
        <p:spPr>
          <a:xfrm>
            <a:off x="6446520" y="461772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map_server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AMCL/Nav2</a:t>
            </a:r>
          </a:p>
        </p:txBody>
      </p:sp>
      <p:sp>
        <p:nvSpPr>
          <p:cNvPr id="84" name="step84"/>
          <p:cNvSpPr/>
          <p:nvPr/>
        </p:nvSpPr>
        <p:spPr>
          <a:xfrm>
            <a:off x="8229600" y="461772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AMCL 定位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map→base</a:t>
            </a:r>
          </a:p>
        </p:txBody>
      </p:sp>
      <p:sp>
        <p:nvSpPr>
          <p:cNvPr id="85" name="step85"/>
          <p:cNvSpPr/>
          <p:nvPr/>
        </p:nvSpPr>
        <p:spPr>
          <a:xfrm>
            <a:off x="10012680" y="4617720"/>
            <a:ext cx="1143000" cy="50292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7F6F6"/>
            </a:solidFill>
          </a:ln>
        </p:spPr>
        <p:txBody>
          <a:bodyPr wrap="square" anchor="mid"/>
          <a:lstStyle/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规划路径</a:t>
            </a:r>
          </a:p>
          <a:p>
            <a:r>
              <a:rPr lang="zh-CN" sz="730">
                <a:solidFill>
                  <a:srgbClr val="F2FEFF"/>
                </a:solidFill>
                <a:latin typeface="Microsoft YaHei"/>
                <a:ea typeface="Microsoft YaHei"/>
              </a:rPr>
              <a:t>控制底盘</a:t>
            </a:r>
          </a:p>
        </p:txBody>
      </p:sp>
      <p:cxnSp>
        <p:nvCxnSpPr>
          <p:cNvPr id="100" name="flow100"/>
          <p:cNvCxnSpPr/>
          <p:nvPr/>
        </p:nvCxnSpPr>
        <p:spPr>
          <a:xfrm>
            <a:off x="2907792" y="2670048"/>
            <a:ext cx="210312" cy="0"/>
          </a:xfrm>
          <a:prstGeom prst="line">
            <a:avLst/>
          </a:prstGeom>
          <a:ln w="22225">
            <a:solidFill>
              <a:srgbClr val="37F6F6"/>
            </a:solidFill>
            <a:tailEnd type="triangle"/>
          </a:ln>
        </p:spPr>
      </p:cxnSp>
      <p:cxnSp>
        <p:nvCxnSpPr>
          <p:cNvPr id="110" name="flowB100"/>
          <p:cNvCxnSpPr/>
          <p:nvPr/>
        </p:nvCxnSpPr>
        <p:spPr>
          <a:xfrm>
            <a:off x="2907792" y="4133087"/>
            <a:ext cx="210312" cy="0"/>
          </a:xfrm>
          <a:prstGeom prst="line">
            <a:avLst/>
          </a:prstGeom>
          <a:ln w="22225">
            <a:solidFill>
              <a:srgbClr val="37F6F6"/>
            </a:solidFill>
            <a:tailEnd type="triangle"/>
          </a:ln>
        </p:spPr>
      </p:cxnSp>
      <p:cxnSp>
        <p:nvCxnSpPr>
          <p:cNvPr id="101" name="flow101"/>
          <p:cNvCxnSpPr/>
          <p:nvPr/>
        </p:nvCxnSpPr>
        <p:spPr>
          <a:xfrm>
            <a:off x="4553712" y="2670048"/>
            <a:ext cx="210312" cy="0"/>
          </a:xfrm>
          <a:prstGeom prst="line">
            <a:avLst/>
          </a:prstGeom>
          <a:ln w="22225">
            <a:solidFill>
              <a:srgbClr val="37F6F6"/>
            </a:solidFill>
            <a:tailEnd type="triangle"/>
          </a:ln>
        </p:spPr>
      </p:cxnSp>
      <p:cxnSp>
        <p:nvCxnSpPr>
          <p:cNvPr id="111" name="flowB101"/>
          <p:cNvCxnSpPr/>
          <p:nvPr/>
        </p:nvCxnSpPr>
        <p:spPr>
          <a:xfrm>
            <a:off x="4553712" y="4133087"/>
            <a:ext cx="210312" cy="0"/>
          </a:xfrm>
          <a:prstGeom prst="line">
            <a:avLst/>
          </a:prstGeom>
          <a:ln w="22225">
            <a:solidFill>
              <a:srgbClr val="37F6F6"/>
            </a:solidFill>
            <a:tailEnd type="triangle"/>
          </a:ln>
        </p:spPr>
      </p:cxnSp>
      <p:cxnSp>
        <p:nvCxnSpPr>
          <p:cNvPr id="102" name="flow102"/>
          <p:cNvCxnSpPr/>
          <p:nvPr/>
        </p:nvCxnSpPr>
        <p:spPr>
          <a:xfrm>
            <a:off x="6199632" y="2670048"/>
            <a:ext cx="210312" cy="0"/>
          </a:xfrm>
          <a:prstGeom prst="line">
            <a:avLst/>
          </a:prstGeom>
          <a:ln w="22225">
            <a:solidFill>
              <a:srgbClr val="37F6F6"/>
            </a:solidFill>
            <a:tailEnd type="triangle"/>
          </a:ln>
        </p:spPr>
      </p:cxnSp>
      <p:cxnSp>
        <p:nvCxnSpPr>
          <p:cNvPr id="112" name="flowB102"/>
          <p:cNvCxnSpPr/>
          <p:nvPr/>
        </p:nvCxnSpPr>
        <p:spPr>
          <a:xfrm>
            <a:off x="6199632" y="4133087"/>
            <a:ext cx="210312" cy="0"/>
          </a:xfrm>
          <a:prstGeom prst="line">
            <a:avLst/>
          </a:prstGeom>
          <a:ln w="22225">
            <a:solidFill>
              <a:srgbClr val="37F6F6"/>
            </a:solidFill>
            <a:tailEnd type="triangle"/>
          </a:ln>
        </p:spPr>
      </p:cxnSp>
      <p:cxnSp>
        <p:nvCxnSpPr>
          <p:cNvPr id="103" name="flow103"/>
          <p:cNvCxnSpPr/>
          <p:nvPr/>
        </p:nvCxnSpPr>
        <p:spPr>
          <a:xfrm>
            <a:off x="7982712" y="2670048"/>
            <a:ext cx="210312" cy="0"/>
          </a:xfrm>
          <a:prstGeom prst="line">
            <a:avLst/>
          </a:prstGeom>
          <a:ln w="22225">
            <a:solidFill>
              <a:srgbClr val="37F6F6"/>
            </a:solidFill>
            <a:tailEnd type="triangle"/>
          </a:ln>
        </p:spPr>
      </p:cxnSp>
      <p:cxnSp>
        <p:nvCxnSpPr>
          <p:cNvPr id="113" name="flowB103"/>
          <p:cNvCxnSpPr/>
          <p:nvPr/>
        </p:nvCxnSpPr>
        <p:spPr>
          <a:xfrm>
            <a:off x="7982712" y="4133087"/>
            <a:ext cx="210312" cy="0"/>
          </a:xfrm>
          <a:prstGeom prst="line">
            <a:avLst/>
          </a:prstGeom>
          <a:ln w="22225">
            <a:solidFill>
              <a:srgbClr val="37F6F6"/>
            </a:solidFill>
            <a:tailEnd type="triangle"/>
          </a:ln>
        </p:spPr>
      </p:cxnSp>
      <p:cxnSp>
        <p:nvCxnSpPr>
          <p:cNvPr id="104" name="flow104"/>
          <p:cNvCxnSpPr/>
          <p:nvPr/>
        </p:nvCxnSpPr>
        <p:spPr>
          <a:xfrm>
            <a:off x="9765792" y="2670048"/>
            <a:ext cx="210312" cy="0"/>
          </a:xfrm>
          <a:prstGeom prst="line">
            <a:avLst/>
          </a:prstGeom>
          <a:ln w="22225">
            <a:solidFill>
              <a:srgbClr val="37F6F6"/>
            </a:solidFill>
            <a:tailEnd type="triangle"/>
          </a:ln>
        </p:spPr>
      </p:cxnSp>
      <p:cxnSp>
        <p:nvCxnSpPr>
          <p:cNvPr id="114" name="flowB104"/>
          <p:cNvCxnSpPr/>
          <p:nvPr/>
        </p:nvCxnSpPr>
        <p:spPr>
          <a:xfrm>
            <a:off x="9765792" y="4133087"/>
            <a:ext cx="210312" cy="0"/>
          </a:xfrm>
          <a:prstGeom prst="line">
            <a:avLst/>
          </a:prstGeom>
          <a:ln w="22225">
            <a:solidFill>
              <a:srgbClr val="37F6F6"/>
            </a:solidFill>
            <a:tailEnd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286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450" b="1">
                <a:solidFill>
                  <a:srgbClr val="F8FFFF"/>
                </a:solidFill>
                <a:latin typeface="Microsoft YaHei"/>
                <a:ea typeface="Microsoft YaHei"/>
              </a:rPr>
              <a:t>夜间定点巡航：可配置路线 + A* 少转弯规划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68580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50">
                <a:solidFill>
                  <a:srgbClr val="9FC5D8"/>
                </a:solidFill>
                <a:latin typeface="Microsoft YaHei"/>
                <a:ea typeface="Microsoft YaHei"/>
              </a:rPr>
              <a:t>面向夜间睡眠场景：低速巡视、到点蜂鸣、停留、往返或循环执行</a:t>
            </a:r>
          </a:p>
        </p:txBody>
      </p:sp>
      <p:sp>
        <p:nvSpPr>
          <p:cNvPr id="4" name="features"/>
          <p:cNvSpPr/>
          <p:nvPr/>
        </p:nvSpPr>
        <p:spPr>
          <a:xfrm>
            <a:off x="548640" y="1097280"/>
            <a:ext cx="3246120" cy="4434840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2DE2E6"/>
            </a:solidFill>
          </a:ln>
        </p:spPr>
        <p:txBody>
          <a:bodyPr wrap="square" anchor="mid"/>
          <a:lstStyle/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>功能设计</a:t>
            </a:r>
          </a:p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>• 用巡航页精细遥控采集途经点</a:t>
            </a:r>
          </a:p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>• 途经点可命名：门口、书房、卧室</a:t>
            </a:r>
          </a:p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>• 支持删除、调整顺序、保存/加载路线</a:t>
            </a:r>
          </a:p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>• A* 在相邻途经点之间规划路径</a:t>
            </a:r>
          </a:p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>• 代价中加入“转弯惩罚”</a:t>
            </a:r>
          </a:p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>• 支持只巡航一次、指定次数、循环巡航</a:t>
            </a:r>
          </a:p>
        </p:txBody>
      </p:sp>
      <p:sp>
        <p:nvSpPr>
          <p:cNvPr id="5" name="astar"/>
          <p:cNvSpPr/>
          <p:nvPr/>
        </p:nvSpPr>
        <p:spPr>
          <a:xfrm>
            <a:off x="3977639" y="1097280"/>
            <a:ext cx="3246120" cy="1965960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2DE2E6"/>
            </a:solidFill>
          </a:ln>
        </p:spPr>
        <p:txBody>
          <a:bodyPr wrap="square" anchor="mid"/>
          <a:lstStyle/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>A* 规划逻辑</a:t>
            </a:r>
          </a:p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>f(n) = g(n) + h(n)</a:t>
            </a:r>
          </a:p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>g(n)：已走距离 + 转弯惩罚</a:t>
            </a:r>
          </a:p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>h(n)：到目标点的估计距离</a:t>
            </a:r>
          </a:p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>目标：不只追求最短，还尽量少拐弯</a:t>
            </a:r>
          </a:p>
        </p:txBody>
      </p:sp>
      <p:sp>
        <p:nvSpPr>
          <p:cNvPr id="6" name="route"/>
          <p:cNvSpPr/>
          <p:nvPr/>
        </p:nvSpPr>
        <p:spPr>
          <a:xfrm>
            <a:off x="3977639" y="3246120"/>
            <a:ext cx="3246120" cy="2286000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2DE2E6"/>
            </a:solidFill>
          </a:ln>
        </p:spPr>
        <p:txBody>
          <a:bodyPr wrap="square" anchor="mid"/>
          <a:lstStyle/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>执行逻辑</a:t>
            </a:r>
          </a:p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>A → B → C</a:t>
            </a:r>
          </a:p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>到点蜂鸣并停留 1~N 秒</a:t>
            </a:r>
          </a:p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>最后一个点原地掉头</a:t>
            </a:r>
          </a:p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>C → B → A 返回</a:t>
            </a:r>
          </a:p>
          <a:p>
            <a:r>
              <a:rPr lang="zh-CN" sz="1250">
                <a:solidFill>
                  <a:srgbClr val="F4FAFF"/>
                </a:solidFill>
                <a:latin typeface="Microsoft YaHei"/>
                <a:ea typeface="Microsoft YaHei"/>
              </a:rPr>
              <a:t>循环时重复这条往返路线</a:t>
            </a:r>
          </a:p>
        </p:txBody>
      </p:sp>
      <p:sp>
        <p:nvSpPr>
          <p:cNvPr id="20" name="grid0-0"/>
          <p:cNvSpPr/>
          <p:nvPr/>
        </p:nvSpPr>
        <p:spPr>
          <a:xfrm>
            <a:off x="7635240" y="1143000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1" name="grid0-1"/>
          <p:cNvSpPr/>
          <p:nvPr/>
        </p:nvSpPr>
        <p:spPr>
          <a:xfrm>
            <a:off x="7982712" y="1143000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2" name="grid0-2"/>
          <p:cNvSpPr/>
          <p:nvPr/>
        </p:nvSpPr>
        <p:spPr>
          <a:xfrm>
            <a:off x="8330183" y="1143000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grid0-3"/>
          <p:cNvSpPr/>
          <p:nvPr/>
        </p:nvSpPr>
        <p:spPr>
          <a:xfrm>
            <a:off x="8677656" y="1143000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grid0-4"/>
          <p:cNvSpPr/>
          <p:nvPr/>
        </p:nvSpPr>
        <p:spPr>
          <a:xfrm>
            <a:off x="9025128" y="1143000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5" name="grid0-5"/>
          <p:cNvSpPr/>
          <p:nvPr/>
        </p:nvSpPr>
        <p:spPr>
          <a:xfrm>
            <a:off x="9372600" y="1143000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6" name="grid0-6"/>
          <p:cNvSpPr/>
          <p:nvPr/>
        </p:nvSpPr>
        <p:spPr>
          <a:xfrm>
            <a:off x="9720072" y="1143000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grid0-7"/>
          <p:cNvSpPr/>
          <p:nvPr/>
        </p:nvSpPr>
        <p:spPr>
          <a:xfrm>
            <a:off x="10067544" y="1143000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grid1-0"/>
          <p:cNvSpPr/>
          <p:nvPr/>
        </p:nvSpPr>
        <p:spPr>
          <a:xfrm>
            <a:off x="7635240" y="1490472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9" name="grid1-1"/>
          <p:cNvSpPr/>
          <p:nvPr/>
        </p:nvSpPr>
        <p:spPr>
          <a:xfrm>
            <a:off x="7982712" y="1490472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0" name="grid1-2"/>
          <p:cNvSpPr/>
          <p:nvPr/>
        </p:nvSpPr>
        <p:spPr>
          <a:xfrm>
            <a:off x="8330183" y="1490472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1" name="grid1-3"/>
          <p:cNvSpPr/>
          <p:nvPr/>
        </p:nvSpPr>
        <p:spPr>
          <a:xfrm>
            <a:off x="8677656" y="1490472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2" name="grid1-4"/>
          <p:cNvSpPr/>
          <p:nvPr/>
        </p:nvSpPr>
        <p:spPr>
          <a:xfrm>
            <a:off x="9025128" y="1490472"/>
            <a:ext cx="347472" cy="347472"/>
          </a:xfrm>
          <a:prstGeom prst="rect">
            <a:avLst/>
          </a:prstGeom>
          <a:solidFill>
            <a:srgbClr val="36404A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3" name="grid1-5"/>
          <p:cNvSpPr/>
          <p:nvPr/>
        </p:nvSpPr>
        <p:spPr>
          <a:xfrm>
            <a:off x="9372600" y="1490472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4" name="grid1-6"/>
          <p:cNvSpPr/>
          <p:nvPr/>
        </p:nvSpPr>
        <p:spPr>
          <a:xfrm>
            <a:off x="9720072" y="1490472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5" name="grid1-7"/>
          <p:cNvSpPr/>
          <p:nvPr/>
        </p:nvSpPr>
        <p:spPr>
          <a:xfrm>
            <a:off x="10067544" y="1490472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6" name="grid2-0"/>
          <p:cNvSpPr/>
          <p:nvPr/>
        </p:nvSpPr>
        <p:spPr>
          <a:xfrm>
            <a:off x="7635240" y="1837943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7" name="grid2-1"/>
          <p:cNvSpPr/>
          <p:nvPr/>
        </p:nvSpPr>
        <p:spPr>
          <a:xfrm>
            <a:off x="7982712" y="1837943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8" name="grid2-2"/>
          <p:cNvSpPr/>
          <p:nvPr/>
        </p:nvSpPr>
        <p:spPr>
          <a:xfrm>
            <a:off x="8330183" y="1837943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9" name="grid2-3"/>
          <p:cNvSpPr/>
          <p:nvPr/>
        </p:nvSpPr>
        <p:spPr>
          <a:xfrm>
            <a:off x="8677656" y="1837943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40" name="grid2-4"/>
          <p:cNvSpPr/>
          <p:nvPr/>
        </p:nvSpPr>
        <p:spPr>
          <a:xfrm>
            <a:off x="9025128" y="1837943"/>
            <a:ext cx="347472" cy="347472"/>
          </a:xfrm>
          <a:prstGeom prst="rect">
            <a:avLst/>
          </a:prstGeom>
          <a:solidFill>
            <a:srgbClr val="36404A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41" name="grid2-5"/>
          <p:cNvSpPr/>
          <p:nvPr/>
        </p:nvSpPr>
        <p:spPr>
          <a:xfrm>
            <a:off x="9372600" y="1837943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42" name="grid2-6"/>
          <p:cNvSpPr/>
          <p:nvPr/>
        </p:nvSpPr>
        <p:spPr>
          <a:xfrm>
            <a:off x="9720072" y="1837943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43" name="grid2-7"/>
          <p:cNvSpPr/>
          <p:nvPr/>
        </p:nvSpPr>
        <p:spPr>
          <a:xfrm>
            <a:off x="10067544" y="1837943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44" name="grid3-0"/>
          <p:cNvSpPr/>
          <p:nvPr/>
        </p:nvSpPr>
        <p:spPr>
          <a:xfrm>
            <a:off x="7635240" y="2185416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45" name="grid3-1"/>
          <p:cNvSpPr/>
          <p:nvPr/>
        </p:nvSpPr>
        <p:spPr>
          <a:xfrm>
            <a:off x="7982712" y="2185416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46" name="grid3-2"/>
          <p:cNvSpPr/>
          <p:nvPr/>
        </p:nvSpPr>
        <p:spPr>
          <a:xfrm>
            <a:off x="8330183" y="2185416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47" name="grid3-3"/>
          <p:cNvSpPr/>
          <p:nvPr/>
        </p:nvSpPr>
        <p:spPr>
          <a:xfrm>
            <a:off x="8677656" y="2185416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48" name="grid3-4"/>
          <p:cNvSpPr/>
          <p:nvPr/>
        </p:nvSpPr>
        <p:spPr>
          <a:xfrm>
            <a:off x="9025128" y="2185416"/>
            <a:ext cx="347472" cy="347472"/>
          </a:xfrm>
          <a:prstGeom prst="rect">
            <a:avLst/>
          </a:prstGeom>
          <a:solidFill>
            <a:srgbClr val="36404A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49" name="grid3-5"/>
          <p:cNvSpPr/>
          <p:nvPr/>
        </p:nvSpPr>
        <p:spPr>
          <a:xfrm>
            <a:off x="9372600" y="2185416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0" name="grid3-6"/>
          <p:cNvSpPr/>
          <p:nvPr/>
        </p:nvSpPr>
        <p:spPr>
          <a:xfrm>
            <a:off x="9720072" y="2185416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1" name="grid3-7"/>
          <p:cNvSpPr/>
          <p:nvPr/>
        </p:nvSpPr>
        <p:spPr>
          <a:xfrm>
            <a:off x="10067544" y="2185416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2" name="grid4-0"/>
          <p:cNvSpPr/>
          <p:nvPr/>
        </p:nvSpPr>
        <p:spPr>
          <a:xfrm>
            <a:off x="7635240" y="2532888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3" name="grid4-1"/>
          <p:cNvSpPr/>
          <p:nvPr/>
        </p:nvSpPr>
        <p:spPr>
          <a:xfrm>
            <a:off x="7982712" y="2532888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4" name="grid4-2"/>
          <p:cNvSpPr/>
          <p:nvPr/>
        </p:nvSpPr>
        <p:spPr>
          <a:xfrm>
            <a:off x="8330183" y="2532888"/>
            <a:ext cx="347472" cy="347472"/>
          </a:xfrm>
          <a:prstGeom prst="rect">
            <a:avLst/>
          </a:prstGeom>
          <a:solidFill>
            <a:srgbClr val="36404A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5" name="grid4-3"/>
          <p:cNvSpPr/>
          <p:nvPr/>
        </p:nvSpPr>
        <p:spPr>
          <a:xfrm>
            <a:off x="8677656" y="2532888"/>
            <a:ext cx="347472" cy="347472"/>
          </a:xfrm>
          <a:prstGeom prst="rect">
            <a:avLst/>
          </a:prstGeom>
          <a:solidFill>
            <a:srgbClr val="36404A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6" name="grid4-4"/>
          <p:cNvSpPr/>
          <p:nvPr/>
        </p:nvSpPr>
        <p:spPr>
          <a:xfrm>
            <a:off x="9025128" y="2532888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7" name="grid4-5"/>
          <p:cNvSpPr/>
          <p:nvPr/>
        </p:nvSpPr>
        <p:spPr>
          <a:xfrm>
            <a:off x="9372600" y="2532888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8" name="grid4-6"/>
          <p:cNvSpPr/>
          <p:nvPr/>
        </p:nvSpPr>
        <p:spPr>
          <a:xfrm>
            <a:off x="9720072" y="2532888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9" name="grid4-7"/>
          <p:cNvSpPr/>
          <p:nvPr/>
        </p:nvSpPr>
        <p:spPr>
          <a:xfrm>
            <a:off x="10067544" y="2532888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0" name="grid5-0"/>
          <p:cNvSpPr/>
          <p:nvPr/>
        </p:nvSpPr>
        <p:spPr>
          <a:xfrm>
            <a:off x="7635240" y="2880360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1" name="grid5-1"/>
          <p:cNvSpPr/>
          <p:nvPr/>
        </p:nvSpPr>
        <p:spPr>
          <a:xfrm>
            <a:off x="7982712" y="2880360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2" name="grid5-2"/>
          <p:cNvSpPr/>
          <p:nvPr/>
        </p:nvSpPr>
        <p:spPr>
          <a:xfrm>
            <a:off x="8330183" y="2880360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3" name="grid5-3"/>
          <p:cNvSpPr/>
          <p:nvPr/>
        </p:nvSpPr>
        <p:spPr>
          <a:xfrm>
            <a:off x="8677656" y="2880360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4" name="grid5-4"/>
          <p:cNvSpPr/>
          <p:nvPr/>
        </p:nvSpPr>
        <p:spPr>
          <a:xfrm>
            <a:off x="9025128" y="2880360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5" name="grid5-5"/>
          <p:cNvSpPr/>
          <p:nvPr/>
        </p:nvSpPr>
        <p:spPr>
          <a:xfrm>
            <a:off x="9372600" y="2880360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6" name="grid5-6"/>
          <p:cNvSpPr/>
          <p:nvPr/>
        </p:nvSpPr>
        <p:spPr>
          <a:xfrm>
            <a:off x="9720072" y="2880360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7" name="grid5-7"/>
          <p:cNvSpPr/>
          <p:nvPr/>
        </p:nvSpPr>
        <p:spPr>
          <a:xfrm>
            <a:off x="10067544" y="2880360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8" name="grid6-0"/>
          <p:cNvSpPr/>
          <p:nvPr/>
        </p:nvSpPr>
        <p:spPr>
          <a:xfrm>
            <a:off x="7635240" y="3227832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9" name="grid6-1"/>
          <p:cNvSpPr/>
          <p:nvPr/>
        </p:nvSpPr>
        <p:spPr>
          <a:xfrm>
            <a:off x="7982712" y="3227832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0" name="grid6-2"/>
          <p:cNvSpPr/>
          <p:nvPr/>
        </p:nvSpPr>
        <p:spPr>
          <a:xfrm>
            <a:off x="8330183" y="3227832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1" name="grid6-3"/>
          <p:cNvSpPr/>
          <p:nvPr/>
        </p:nvSpPr>
        <p:spPr>
          <a:xfrm>
            <a:off x="8677656" y="3227832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2" name="grid6-4"/>
          <p:cNvSpPr/>
          <p:nvPr/>
        </p:nvSpPr>
        <p:spPr>
          <a:xfrm>
            <a:off x="9025128" y="3227832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3" name="grid6-5"/>
          <p:cNvSpPr/>
          <p:nvPr/>
        </p:nvSpPr>
        <p:spPr>
          <a:xfrm>
            <a:off x="9372600" y="3227832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4" name="grid6-6"/>
          <p:cNvSpPr/>
          <p:nvPr/>
        </p:nvSpPr>
        <p:spPr>
          <a:xfrm>
            <a:off x="9720072" y="3227832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5" name="grid6-7"/>
          <p:cNvSpPr/>
          <p:nvPr/>
        </p:nvSpPr>
        <p:spPr>
          <a:xfrm>
            <a:off x="10067544" y="3227832"/>
            <a:ext cx="347472" cy="347472"/>
          </a:xfrm>
          <a:prstGeom prst="rect">
            <a:avLst/>
          </a:prstGeom>
          <a:solidFill>
            <a:srgbClr val="0C1B2B"/>
          </a:solidFill>
          <a:ln w="12700">
            <a:solidFill>
              <a:srgbClr val="1E4860"/>
            </a:solidFill>
          </a:ln>
        </p:spPr>
        <p:txBody>
          <a:bodyPr wrap="square" anchor="mid"/>
          <a:lstStyle/>
          <a:p>
            <a:r>
              <a:rPr lang="zh-CN" sz="600">
                <a:solidFill>
                  <a:srgbClr val="F4FA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6" name="pointA"/>
          <p:cNvSpPr/>
          <p:nvPr/>
        </p:nvSpPr>
        <p:spPr>
          <a:xfrm>
            <a:off x="7818120" y="2788920"/>
            <a:ext cx="438912" cy="438912"/>
          </a:xfrm>
          <a:prstGeom prst="ellipse">
            <a:avLst/>
          </a:prstGeom>
          <a:solidFill>
            <a:srgbClr val="5CFF9D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r>
              <a:rPr lang="zh-CN" sz="1200" b="1">
                <a:solidFill>
                  <a:srgbClr val="06111C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77" name="pointB"/>
          <p:cNvSpPr/>
          <p:nvPr/>
        </p:nvSpPr>
        <p:spPr>
          <a:xfrm>
            <a:off x="8823960" y="1508760"/>
            <a:ext cx="438912" cy="438912"/>
          </a:xfrm>
          <a:prstGeom prst="ellipse">
            <a:avLst/>
          </a:prstGeom>
          <a:solidFill>
            <a:srgbClr val="FFCF5A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r>
              <a:rPr lang="zh-CN" sz="1200" b="1">
                <a:solidFill>
                  <a:srgbClr val="06111C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78" name="pointC"/>
          <p:cNvSpPr/>
          <p:nvPr/>
        </p:nvSpPr>
        <p:spPr>
          <a:xfrm>
            <a:off x="9738360" y="2971800"/>
            <a:ext cx="438912" cy="438912"/>
          </a:xfrm>
          <a:prstGeom prst="ellipse">
            <a:avLst/>
          </a:prstGeom>
          <a:solidFill>
            <a:srgbClr val="FF4FD8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r>
              <a:rPr lang="zh-CN" sz="1200" b="1">
                <a:solidFill>
                  <a:srgbClr val="06111C"/>
                </a:solidFill>
                <a:latin typeface="Microsoft YaHei"/>
                <a:ea typeface="Microsoft YaHei"/>
              </a:rPr>
              <a:t>C</a:t>
            </a:r>
          </a:p>
        </p:txBody>
      </p:sp>
      <p:cxnSp>
        <p:nvCxnSpPr>
          <p:cNvPr id="79" name="AtoB"/>
          <p:cNvCxnSpPr/>
          <p:nvPr/>
        </p:nvCxnSpPr>
        <p:spPr>
          <a:xfrm>
            <a:off x="8183879" y="2788920"/>
            <a:ext cx="777240" cy="-1005840"/>
          </a:xfrm>
          <a:prstGeom prst="line">
            <a:avLst/>
          </a:prstGeom>
          <a:ln w="22225">
            <a:solidFill>
              <a:srgbClr val="37F6F6"/>
            </a:solidFill>
            <a:tailEnd type="triangle"/>
          </a:ln>
        </p:spPr>
      </p:cxnSp>
      <p:cxnSp>
        <p:nvCxnSpPr>
          <p:cNvPr id="80" name="BtoC"/>
          <p:cNvCxnSpPr/>
          <p:nvPr/>
        </p:nvCxnSpPr>
        <p:spPr>
          <a:xfrm>
            <a:off x="9189720" y="1783080"/>
            <a:ext cx="685800" cy="1097280"/>
          </a:xfrm>
          <a:prstGeom prst="line">
            <a:avLst/>
          </a:prstGeom>
          <a:ln w="22225">
            <a:solidFill>
              <a:srgbClr val="37F6F6"/>
            </a:solidFill>
            <a:tailEnd type="triangle"/>
          </a:ln>
        </p:spPr>
      </p:cxnSp>
      <p:cxnSp>
        <p:nvCxnSpPr>
          <p:cNvPr id="81" name="Cback"/>
          <p:cNvCxnSpPr/>
          <p:nvPr/>
        </p:nvCxnSpPr>
        <p:spPr>
          <a:xfrm>
            <a:off x="9646920" y="3429000"/>
            <a:ext cx="-1508760" cy="0"/>
          </a:xfrm>
          <a:prstGeom prst="line">
            <a:avLst/>
          </a:prstGeom>
          <a:ln w="22225">
            <a:solidFill>
              <a:srgbClr val="FFCF5A"/>
            </a:solidFill>
            <a:tailEnd type="triangle"/>
          </a:ln>
        </p:spPr>
      </p:cxnSp>
      <p:sp>
        <p:nvSpPr>
          <p:cNvPr id="82" name="legend"/>
          <p:cNvSpPr txBox="1"/>
          <p:nvPr/>
        </p:nvSpPr>
        <p:spPr>
          <a:xfrm>
            <a:off x="7635240" y="4069080"/>
            <a:ext cx="301752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100">
                <a:solidFill>
                  <a:srgbClr val="DFFBFF"/>
                </a:solidFill>
                <a:latin typeface="Microsoft YaHei"/>
                <a:ea typeface="Microsoft YaHei"/>
              </a:rPr>
              <a:t>灰色：障碍/不可走</a:t>
            </a:r>
          </a:p>
          <a:p>
            <a:r>
              <a:rPr lang="zh-CN" sz="1100">
                <a:solidFill>
                  <a:srgbClr val="DFFBFF"/>
                </a:solidFill>
                <a:latin typeface="Microsoft YaHei"/>
                <a:ea typeface="Microsoft YaHei"/>
              </a:rPr>
              <a:t>彩色：途经点</a:t>
            </a:r>
          </a:p>
          <a:p>
            <a:r>
              <a:rPr lang="zh-CN" sz="1100">
                <a:solidFill>
                  <a:srgbClr val="DFFBFF"/>
                </a:solidFill>
                <a:latin typeface="Microsoft YaHei"/>
                <a:ea typeface="Microsoft YaHei"/>
              </a:rPr>
              <a:t>箭头：规划/返回方向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ar">
  <a:themeElements>
    <a:clrScheme name="iCar">
      <a:dk1>
        <a:srgbClr val="07111E"/>
      </a:dk1>
      <a:lt1>
        <a:srgbClr val="FFFFFF"/>
      </a:lt1>
      <a:dk2>
        <a:srgbClr val="132033"/>
      </a:dk2>
      <a:lt2>
        <a:srgbClr val="CFE7F5"/>
      </a:lt2>
      <a:accent1>
        <a:srgbClr val="37F6F6"/>
      </a:accent1>
      <a:accent2>
        <a:srgbClr val="5CFF9D"/>
      </a:accent2>
      <a:accent3>
        <a:srgbClr val="FFCF5A"/>
      </a:accent3>
      <a:accent4>
        <a:srgbClr val="FF4FD8"/>
      </a:accent4>
      <a:accent5>
        <a:srgbClr val="9F6BFF"/>
      </a:accent5>
      <a:accent6>
        <a:srgbClr val="2DE2E6"/>
      </a:accent6>
      <a:hlink>
        <a:srgbClr val="37F6F6"/>
      </a:hlink>
      <a:folHlink>
        <a:srgbClr val="9F6BFF"/>
      </a:folHlink>
    </a:clrScheme>
    <a:fontScheme name="iCar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iCar">
      <a:fillStyleLst>
        <a:solidFill>
          <a:schemeClr val="accent1"/>
        </a:solidFill>
      </a:fillStyleLst>
      <a:lnStyleLst>
        <a:ln w="12700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dk1"/>
        </a:solidFill>
      </a:bgFillStyleLst>
    </a:fmtScheme>
  </a:themeElements>
</a:theme>
</file>